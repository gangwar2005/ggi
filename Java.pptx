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B75A9-D4A5-1850-9298-DECCE9C9E8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2904B7-361E-E7AC-152C-F9FB03AC42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D8AC09-2C27-138C-98F6-D426FE570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B8A2A8-F3E3-C455-650B-E3A03914E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16E61-CCB9-BE04-E12F-0F88794EC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5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F9B9E3-1C99-7055-0BCC-308224C1A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FBF647-B53A-9530-DD9A-995767A6D9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0694F2-7A5A-CA81-81F7-3373B5A68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4D692-DE00-E5F2-04D2-CA9B4D27C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92FB9A-B20F-E127-B302-014E1618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18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09C5A-8289-59C2-C4C0-1AB03207B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B37DD-65AB-86DC-3F4D-2AB37FECC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5983E6-A3DC-9A76-A898-EDDF3D2D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B559B2-7AB1-DD32-48EB-267AFB837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E420D-EF5F-4571-A3D0-310709002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30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CA700-6DA7-B9C5-6305-4856E994A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135E8-2995-9690-2FFA-884E5B4AC8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5811C-9367-FA7D-B842-59B726A00E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DB61E7-D85C-7A2F-A70B-67B4D056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F8CD0D-7AED-0AFB-D250-38D3889F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E216AA-2B08-1757-34F4-3C5C5520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49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97720-27AA-B2FD-C7A5-CD6FF57AF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D0DCE1-AECD-FA3A-FEA9-6C9C2B681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F1382-1AEC-C4F2-1E34-1EF36AE89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C054DE-2DFD-E03D-522F-185E89F8AF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519EF84-BA91-528A-05B0-C3DBD7FE9D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6E6230-41F9-F5B9-D8B4-43621ABDC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BD9A4C-8D93-9DC4-DB2B-F18F9BFE1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25AC24-9C85-B69E-3729-464DC2661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4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D276F-22E7-C32B-5A60-5BB9817D4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B983CC-020E-ED75-CAC3-EA332E496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593EC2-8AF2-A65F-6828-998B6C717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0D6B08-C780-CEC6-C1EC-44383D55B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128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A87D2B-26DE-5C75-61D9-F6D76CBB3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C6681D-FB69-A98A-A7D7-560A10A7D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51DA7-96CC-FCE7-E2F0-05DED2EB0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814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0B3D3E-9A83-1019-AC5E-2FC76E29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287F5-BFC7-8202-41DF-B5DF850C2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3B89A7-AC78-86B5-3EBA-A546109BD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110DD-4A75-3D12-0F69-8026D92C0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E7679-AFA6-A978-C97A-CCA3780C8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D5A18-6A24-C708-F093-EE851600C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779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338D3-AE9E-2756-82B1-0B50164AF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B23DA-3E70-367B-7865-E0546C87E51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1C47D3-647B-BCA8-2312-C118F9D78F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DCCB87-DADE-7620-96DB-9FB878781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EC4674-1981-0671-5670-29B3883FE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C854-BD9B-9753-FC18-446181E0E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64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9BD38-836C-CDD5-FBBF-DED15E0C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261B5D-49C4-6491-CCD1-43F1BA538C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EC3EB6-24AA-EC58-19A4-E91A9F899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5AEC92-F54F-C3E1-444D-B686486E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29B543-4F0A-0D3E-F471-2E87044B2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757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E4D45-EC32-355F-13D9-8A6E086C1E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9F869-4E8D-2631-657E-43C925C43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F602B2-5D21-9D6D-FA7D-8C2F859EC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983E44-E9AC-104B-3858-8BA7CA9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5521BC-A049-F81D-2229-D9AB9BA3B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475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4A09C62-F9B2-7A4F-1B90-58CFF157A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649A1E-F8EB-8556-C538-8E28C195F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6CE8E-3179-EEB2-4329-4B3AA7E01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43C90-9AD3-435C-95B2-C9B603D5963C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0F548E-1C09-2B28-0B29-1F699AA1A5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1F06D-182A-08A1-3282-B7539BA18E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23CD1F-3342-4874-9C95-19CA4F83BE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650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B31B1FB-A1B1-0380-610A-8F0746916267}"/>
              </a:ext>
            </a:extLst>
          </p:cNvPr>
          <p:cNvSpPr txBox="1"/>
          <p:nvPr/>
        </p:nvSpPr>
        <p:spPr>
          <a:xfrm>
            <a:off x="501445" y="285135"/>
            <a:ext cx="864255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Keywords in Java</a:t>
            </a:r>
          </a:p>
          <a:p>
            <a:pPr>
              <a:buNone/>
            </a:pPr>
            <a:r>
              <a:rPr lang="en-US" b="1" dirty="0"/>
              <a:t>What is a Keyword?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keyword is a reserved word in Java that has a predefined meaning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Java compiler already knows what a keyword means, so we </a:t>
            </a:r>
            <a:r>
              <a:rPr lang="en-US" b="1" dirty="0"/>
              <a:t>cannot use a keyword as a variable, class, or method name</a:t>
            </a:r>
            <a:r>
              <a:rPr lang="en-US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6A32F-9DD7-FD26-D803-5237AF4340E3}"/>
              </a:ext>
            </a:extLst>
          </p:cNvPr>
          <p:cNvSpPr txBox="1"/>
          <p:nvPr/>
        </p:nvSpPr>
        <p:spPr>
          <a:xfrm>
            <a:off x="383458" y="1762463"/>
            <a:ext cx="876054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Example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age = 20;</a:t>
            </a:r>
          </a:p>
          <a:p>
            <a:pPr>
              <a:buNone/>
            </a:pPr>
            <a:r>
              <a:rPr lang="en-US" dirty="0"/>
              <a:t>Here: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int</a:t>
            </a:r>
            <a:r>
              <a:rPr lang="en-US" dirty="0"/>
              <a:t> → keyword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age</a:t>
            </a:r>
            <a:r>
              <a:rPr lang="en-US" dirty="0"/>
              <a:t> → identifier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>
                <a:latin typeface="+mn-lt"/>
              </a:rPr>
              <a:t>20</a:t>
            </a:r>
            <a:r>
              <a:rPr lang="en-US" dirty="0"/>
              <a:t> → literal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1269FF41-2949-4A56-302E-07AE86A38A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658653"/>
              </p:ext>
            </p:extLst>
          </p:nvPr>
        </p:nvGraphicFramePr>
        <p:xfrm>
          <a:off x="383458" y="3516789"/>
          <a:ext cx="8475408" cy="1823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37704">
                  <a:extLst>
                    <a:ext uri="{9D8B030D-6E8A-4147-A177-3AD203B41FA5}">
                      <a16:colId xmlns:a16="http://schemas.microsoft.com/office/drawing/2014/main" val="1062850261"/>
                    </a:ext>
                  </a:extLst>
                </a:gridCol>
                <a:gridCol w="4237704">
                  <a:extLst>
                    <a:ext uri="{9D8B030D-6E8A-4147-A177-3AD203B41FA5}">
                      <a16:colId xmlns:a16="http://schemas.microsoft.com/office/drawing/2014/main" val="973566066"/>
                    </a:ext>
                  </a:extLst>
                </a:gridCol>
              </a:tblGrid>
              <a:tr h="45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Keyword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Meaning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2814022"/>
                  </a:ext>
                </a:extLst>
              </a:tr>
              <a:tr h="45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class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Defines a class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974443"/>
                  </a:ext>
                </a:extLst>
              </a:tr>
              <a:tr h="45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public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Provides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799860"/>
                  </a:ext>
                </a:extLst>
              </a:tr>
              <a:tr h="4558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private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Restricts access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1012467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71ADE28F-FBBA-0ADD-8535-5105265B150D}"/>
              </a:ext>
            </a:extLst>
          </p:cNvPr>
          <p:cNvSpPr txBox="1"/>
          <p:nvPr/>
        </p:nvSpPr>
        <p:spPr>
          <a:xfrm>
            <a:off x="3079350" y="3059668"/>
            <a:ext cx="4913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Some important Java keywords</a:t>
            </a:r>
          </a:p>
        </p:txBody>
      </p:sp>
    </p:spTree>
    <p:extLst>
      <p:ext uri="{BB962C8B-B14F-4D97-AF65-F5344CB8AC3E}">
        <p14:creationId xmlns:p14="http://schemas.microsoft.com/office/powerpoint/2010/main" val="22097744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A084C1D-13C5-4C16-55ED-3A4B1C78367B}"/>
              </a:ext>
            </a:extLst>
          </p:cNvPr>
          <p:cNvSpPr txBox="1"/>
          <p:nvPr/>
        </p:nvSpPr>
        <p:spPr>
          <a:xfrm>
            <a:off x="235974" y="2414101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Identifiers</a:t>
            </a:r>
          </a:p>
          <a:p>
            <a:pPr>
              <a:buNone/>
            </a:pPr>
            <a:r>
              <a:rPr lang="en-US" b="1" dirty="0"/>
              <a:t>What is an Identifier?</a:t>
            </a:r>
          </a:p>
          <a:p>
            <a:pPr>
              <a:buNone/>
            </a:pPr>
            <a:r>
              <a:rPr lang="en-US" dirty="0"/>
              <a:t>An </a:t>
            </a:r>
            <a:r>
              <a:rPr lang="en-US" b="1" dirty="0"/>
              <a:t>identifier is the name given by the programmer to a programming element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We use identifiers for: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Variables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Methods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Classes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dirty="0"/>
              <a:t>Objects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29CC58-2420-001F-F2B9-021B491E15CB}"/>
              </a:ext>
            </a:extLst>
          </p:cNvPr>
          <p:cNvSpPr txBox="1"/>
          <p:nvPr/>
        </p:nvSpPr>
        <p:spPr>
          <a:xfrm>
            <a:off x="412955" y="499942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Another example: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class Student {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}</a:t>
            </a:r>
          </a:p>
          <a:p>
            <a:pPr>
              <a:buNone/>
            </a:pPr>
            <a:r>
              <a:rPr lang="en-US" dirty="0"/>
              <a:t>Here: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Student → Identifier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30D040-B9A8-F2B5-CF6D-82DED5B41758}"/>
              </a:ext>
            </a:extLst>
          </p:cNvPr>
          <p:cNvSpPr txBox="1"/>
          <p:nvPr/>
        </p:nvSpPr>
        <p:spPr>
          <a:xfrm>
            <a:off x="6705600" y="2861187"/>
            <a:ext cx="21300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Int age=28</a:t>
            </a:r>
          </a:p>
          <a:p>
            <a:r>
              <a:rPr lang="en-US" dirty="0"/>
              <a:t>Here age is identifier</a:t>
            </a:r>
          </a:p>
        </p:txBody>
      </p:sp>
    </p:spTree>
    <p:extLst>
      <p:ext uri="{BB962C8B-B14F-4D97-AF65-F5344CB8AC3E}">
        <p14:creationId xmlns:p14="http://schemas.microsoft.com/office/powerpoint/2010/main" val="893265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D4029C-018E-CE30-F592-884D47C1D741}"/>
              </a:ext>
            </a:extLst>
          </p:cNvPr>
          <p:cNvSpPr txBox="1"/>
          <p:nvPr/>
        </p:nvSpPr>
        <p:spPr>
          <a:xfrm>
            <a:off x="540774" y="275303"/>
            <a:ext cx="86032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Rules for Identifiers</a:t>
            </a:r>
          </a:p>
          <a:p>
            <a:pPr>
              <a:buNone/>
            </a:pPr>
            <a:r>
              <a:rPr lang="en-US" b="1" dirty="0"/>
              <a:t>Rule 1: Cannot start with a digit</a:t>
            </a:r>
          </a:p>
          <a:p>
            <a:pPr>
              <a:buNone/>
            </a:pPr>
            <a:r>
              <a:rPr lang="en-US" dirty="0"/>
              <a:t>❌ Wrong: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123age = 20;</a:t>
            </a:r>
          </a:p>
          <a:p>
            <a:pPr>
              <a:buNone/>
            </a:pPr>
            <a:r>
              <a:rPr lang="en-US" dirty="0"/>
              <a:t>✅ Correct: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age123 = 20;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562727-441A-EE6A-BA08-1037A60AEB17}"/>
              </a:ext>
            </a:extLst>
          </p:cNvPr>
          <p:cNvSpPr txBox="1"/>
          <p:nvPr/>
        </p:nvSpPr>
        <p:spPr>
          <a:xfrm>
            <a:off x="540774" y="2029629"/>
            <a:ext cx="860322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Rule 2: Can contain letters, digits, </a:t>
            </a:r>
            <a:r>
              <a:rPr lang="en-US" b="1" dirty="0">
                <a:latin typeface="+mn-lt"/>
              </a:rPr>
              <a:t>_</a:t>
            </a:r>
            <a:r>
              <a:rPr lang="en-US" b="1" dirty="0"/>
              <a:t> and </a:t>
            </a:r>
            <a:r>
              <a:rPr lang="en-US" b="1" dirty="0">
                <a:latin typeface="+mn-lt"/>
              </a:rPr>
              <a:t>$</a:t>
            </a:r>
            <a:endParaRPr lang="en-US" b="1" dirty="0"/>
          </a:p>
          <a:p>
            <a:pPr>
              <a:buNone/>
            </a:pPr>
            <a:r>
              <a:rPr lang="en-US" dirty="0"/>
              <a:t>Valid: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age;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age2;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</a:t>
            </a:r>
            <a:r>
              <a:rPr lang="en-US" dirty="0" err="1">
                <a:latin typeface="+mn-lt"/>
              </a:rPr>
              <a:t>student_age</a:t>
            </a:r>
            <a:r>
              <a:rPr lang="en-US" dirty="0">
                <a:latin typeface="+mn-lt"/>
              </a:rPr>
              <a:t>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$salary;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6429E9-4B5E-35F1-0FD1-F50DE9D48FE8}"/>
              </a:ext>
            </a:extLst>
          </p:cNvPr>
          <p:cNvSpPr txBox="1"/>
          <p:nvPr/>
        </p:nvSpPr>
        <p:spPr>
          <a:xfrm>
            <a:off x="540774" y="385842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Rule 3: Cannot contain spaces</a:t>
            </a:r>
          </a:p>
          <a:p>
            <a:pPr>
              <a:buNone/>
            </a:pPr>
            <a:r>
              <a:rPr lang="en-US" dirty="0"/>
              <a:t>❌ Wrong: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student age;</a:t>
            </a:r>
          </a:p>
          <a:p>
            <a:pPr>
              <a:buNone/>
            </a:pPr>
            <a:r>
              <a:rPr lang="en-US" dirty="0"/>
              <a:t>✅ Correct: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</a:t>
            </a:r>
            <a:r>
              <a:rPr lang="en-US" dirty="0" err="1">
                <a:latin typeface="+mn-lt"/>
              </a:rPr>
              <a:t>studentAge</a:t>
            </a:r>
            <a:r>
              <a:rPr lang="en-US" dirty="0">
                <a:latin typeface="+mn-lt"/>
              </a:rPr>
              <a:t>;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E7E5D8-7E22-B901-632A-680BC9164706}"/>
              </a:ext>
            </a:extLst>
          </p:cNvPr>
          <p:cNvSpPr txBox="1"/>
          <p:nvPr/>
        </p:nvSpPr>
        <p:spPr>
          <a:xfrm>
            <a:off x="540774" y="533575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Rule 4: Cannot use keywords</a:t>
            </a:r>
          </a:p>
          <a:p>
            <a:pPr>
              <a:buNone/>
            </a:pPr>
            <a:r>
              <a:rPr lang="en-US" dirty="0"/>
              <a:t>❌ Wrong: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class = 10;</a:t>
            </a:r>
          </a:p>
          <a:p>
            <a:pPr>
              <a:buNone/>
            </a:pPr>
            <a:r>
              <a:rPr lang="en-US" dirty="0"/>
              <a:t>Because </a:t>
            </a:r>
            <a:r>
              <a:rPr lang="en-US" dirty="0">
                <a:latin typeface="+mn-lt"/>
              </a:rPr>
              <a:t>class</a:t>
            </a:r>
            <a:r>
              <a:rPr lang="en-US" dirty="0"/>
              <a:t> is a keyword.</a:t>
            </a:r>
          </a:p>
        </p:txBody>
      </p:sp>
    </p:spTree>
    <p:extLst>
      <p:ext uri="{BB962C8B-B14F-4D97-AF65-F5344CB8AC3E}">
        <p14:creationId xmlns:p14="http://schemas.microsoft.com/office/powerpoint/2010/main" val="893763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565ABF5-76F2-6869-65A6-621CF565C945}"/>
              </a:ext>
            </a:extLst>
          </p:cNvPr>
          <p:cNvSpPr txBox="1"/>
          <p:nvPr/>
        </p:nvSpPr>
        <p:spPr>
          <a:xfrm>
            <a:off x="226142" y="14623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Variables</a:t>
            </a:r>
          </a:p>
          <a:p>
            <a:pPr>
              <a:buNone/>
            </a:pPr>
            <a:r>
              <a:rPr lang="en-US" b="1" dirty="0"/>
              <a:t>What is a Variable?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variable is a named memory location used to store a value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age = 20;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282914-D7AE-29DE-394E-0C5E1F767155}"/>
              </a:ext>
            </a:extLst>
          </p:cNvPr>
          <p:cNvSpPr txBox="1"/>
          <p:nvPr/>
        </p:nvSpPr>
        <p:spPr>
          <a:xfrm>
            <a:off x="226142" y="1537334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Think of a variable as a </a:t>
            </a:r>
            <a:r>
              <a:rPr lang="en-US" b="1" dirty="0"/>
              <a:t>box with a name</a:t>
            </a:r>
            <a:r>
              <a:rPr lang="en-US" dirty="0"/>
              <a:t>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   age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┌─────────┐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│   20    │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     └─────────┘</a:t>
            </a:r>
          </a:p>
          <a:p>
            <a:pPr>
              <a:buNone/>
            </a:pPr>
            <a:r>
              <a:rPr lang="en-US" dirty="0"/>
              <a:t>The value can change: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age = 20;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>
                <a:latin typeface="+mn-lt"/>
              </a:rPr>
              <a:t>age = 21;</a:t>
            </a:r>
          </a:p>
          <a:p>
            <a:pPr>
              <a:buNone/>
            </a:pPr>
            <a:r>
              <a:rPr lang="en-US" dirty="0"/>
              <a:t>Now: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age = 21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3CFFCB-4E56-DE2C-8C3C-454F0CC7860C}"/>
              </a:ext>
            </a:extLst>
          </p:cNvPr>
          <p:cNvSpPr txBox="1"/>
          <p:nvPr/>
        </p:nvSpPr>
        <p:spPr>
          <a:xfrm>
            <a:off x="226142" y="467665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Variable Declaration</a:t>
            </a:r>
          </a:p>
          <a:p>
            <a:pPr>
              <a:buNone/>
            </a:pPr>
            <a:r>
              <a:rPr lang="en-US" dirty="0"/>
              <a:t>When we tell Java the variable's type and name: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age;</a:t>
            </a:r>
          </a:p>
          <a:p>
            <a:pPr>
              <a:buNone/>
            </a:pPr>
            <a:r>
              <a:rPr lang="en-US" dirty="0"/>
              <a:t>This is called </a:t>
            </a:r>
            <a:r>
              <a:rPr lang="en-US" b="1" dirty="0"/>
              <a:t>declaration</a:t>
            </a:r>
            <a:r>
              <a:rPr lang="en-US" dirty="0"/>
              <a:t>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→ Data type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age → Variable name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52926B4-1C61-269B-A402-051CBEACF816}"/>
              </a:ext>
            </a:extLst>
          </p:cNvPr>
          <p:cNvSpPr txBox="1"/>
          <p:nvPr/>
        </p:nvSpPr>
        <p:spPr>
          <a:xfrm>
            <a:off x="4739148" y="199899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Types of Variables in Java</a:t>
            </a:r>
          </a:p>
          <a:p>
            <a:pPr>
              <a:buNone/>
            </a:pPr>
            <a:r>
              <a:rPr lang="en-US" dirty="0"/>
              <a:t>There are mainly </a:t>
            </a:r>
            <a:r>
              <a:rPr lang="en-US" b="1" dirty="0"/>
              <a:t>three types of variables</a:t>
            </a:r>
            <a:r>
              <a:rPr lang="en-US" dirty="0"/>
              <a:t>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Variables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│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Local Variable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Instance Variable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└── Static Variable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651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F9D8E9-488E-A6F1-8023-2472D784C3BE}"/>
              </a:ext>
            </a:extLst>
          </p:cNvPr>
          <p:cNvSpPr txBox="1"/>
          <p:nvPr/>
        </p:nvSpPr>
        <p:spPr>
          <a:xfrm>
            <a:off x="383458" y="194553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Data Types</a:t>
            </a:r>
          </a:p>
          <a:p>
            <a:pPr>
              <a:buNone/>
            </a:pPr>
            <a:r>
              <a:rPr lang="en-US" dirty="0"/>
              <a:t>A data type tells Java:</a:t>
            </a:r>
          </a:p>
          <a:p>
            <a:pPr>
              <a:buNone/>
            </a:pPr>
            <a:r>
              <a:rPr lang="en-US" b="1" dirty="0"/>
              <a:t>What type of value can this variable store?</a:t>
            </a:r>
            <a:endParaRPr lang="en-US" dirty="0"/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age = 20;</a:t>
            </a:r>
          </a:p>
          <a:p>
            <a:pPr>
              <a:buNone/>
            </a:pPr>
            <a:r>
              <a:rPr lang="en-US" dirty="0">
                <a:latin typeface="+mn-lt"/>
              </a:rPr>
              <a:t>int</a:t>
            </a:r>
            <a:r>
              <a:rPr lang="en-US" dirty="0"/>
              <a:t> tells Java that </a:t>
            </a:r>
            <a:r>
              <a:rPr lang="en-US" dirty="0">
                <a:latin typeface="+mn-lt"/>
              </a:rPr>
              <a:t>age</a:t>
            </a:r>
            <a:r>
              <a:rPr lang="en-US" dirty="0"/>
              <a:t> stores an integer.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4F1A53-F46B-B78B-B667-7FAF7D6EDBCC}"/>
              </a:ext>
            </a:extLst>
          </p:cNvPr>
          <p:cNvSpPr txBox="1"/>
          <p:nvPr/>
        </p:nvSpPr>
        <p:spPr>
          <a:xfrm>
            <a:off x="383458" y="194887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Java Data Type Classification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Data Types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│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Primitive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│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└── Non-Primitive / Reference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EF6ED3-4E65-4C9C-2063-A86984AB8E31}"/>
              </a:ext>
            </a:extLst>
          </p:cNvPr>
          <p:cNvSpPr txBox="1"/>
          <p:nvPr/>
        </p:nvSpPr>
        <p:spPr>
          <a:xfrm>
            <a:off x="383458" y="3801125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Primitive Data Types</a:t>
            </a:r>
          </a:p>
          <a:p>
            <a:pPr>
              <a:buNone/>
            </a:pPr>
            <a:r>
              <a:rPr lang="en-US" dirty="0"/>
              <a:t>Java has </a:t>
            </a:r>
            <a:r>
              <a:rPr lang="en-US" b="1" dirty="0"/>
              <a:t>8 primitive data types</a:t>
            </a:r>
            <a:r>
              <a:rPr lang="en-US" dirty="0"/>
              <a:t>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byte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short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long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float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double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char</a:t>
            </a:r>
          </a:p>
          <a:p>
            <a:pPr rtl="0">
              <a:buNone/>
            </a:pPr>
            <a:r>
              <a:rPr lang="en-US" dirty="0" err="1">
                <a:latin typeface="+mn-lt"/>
              </a:rPr>
              <a:t>boolean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DC9769-A11B-1C6D-2FAE-68B97B1E1F51}"/>
              </a:ext>
            </a:extLst>
          </p:cNvPr>
          <p:cNvSpPr txBox="1"/>
          <p:nvPr/>
        </p:nvSpPr>
        <p:spPr>
          <a:xfrm>
            <a:off x="5152103" y="4067615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Non-Primitive / Reference Data Types</a:t>
            </a:r>
          </a:p>
          <a:p>
            <a:pPr>
              <a:buNone/>
            </a:pPr>
            <a:r>
              <a:rPr lang="en-US" dirty="0"/>
              <a:t>Examples: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String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Array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Class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Object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Interface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08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462BD5-F202-ACC7-2AA0-D0D3257A3DD8}"/>
              </a:ext>
            </a:extLst>
          </p:cNvPr>
          <p:cNvSpPr txBox="1"/>
          <p:nvPr/>
        </p:nvSpPr>
        <p:spPr>
          <a:xfrm>
            <a:off x="629265" y="259988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 Literals</a:t>
            </a:r>
          </a:p>
          <a:p>
            <a:pPr>
              <a:buNone/>
            </a:pPr>
            <a:r>
              <a:rPr lang="en-US" dirty="0"/>
              <a:t>This topic is very important because students often confuse </a:t>
            </a:r>
            <a:r>
              <a:rPr lang="en-US" b="1" dirty="0"/>
              <a:t>variables and literals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What is a Literal?</a:t>
            </a:r>
          </a:p>
          <a:p>
            <a:pPr>
              <a:buNone/>
            </a:pPr>
            <a:r>
              <a:rPr lang="en-US" dirty="0"/>
              <a:t>A </a:t>
            </a:r>
            <a:r>
              <a:rPr lang="en-US" b="1" dirty="0"/>
              <a:t>literal is a fixed value written directly in the source code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age = 20;</a:t>
            </a:r>
          </a:p>
          <a:p>
            <a:pPr>
              <a:buNone/>
            </a:pPr>
            <a:r>
              <a:rPr lang="en-US" dirty="0"/>
              <a:t>Here: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age → Variable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20  → Literal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9EB9A4-CD33-D46D-A1A8-8C7015391990}"/>
              </a:ext>
            </a:extLst>
          </p:cNvPr>
          <p:cNvSpPr txBox="1"/>
          <p:nvPr/>
        </p:nvSpPr>
        <p:spPr>
          <a:xfrm>
            <a:off x="737420" y="3122310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Types of Literals</a:t>
            </a:r>
          </a:p>
          <a:p>
            <a:pPr>
              <a:buNone/>
            </a:pPr>
            <a:r>
              <a:rPr lang="en-US" dirty="0"/>
              <a:t>Java has several types of literals.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Literals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│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Integer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Floating-point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Character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String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Boolean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└── null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97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BF94E2-9552-BF3A-1103-26FA2215FEC1}"/>
              </a:ext>
            </a:extLst>
          </p:cNvPr>
          <p:cNvSpPr txBox="1"/>
          <p:nvPr/>
        </p:nvSpPr>
        <p:spPr>
          <a:xfrm>
            <a:off x="452284" y="340342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6. Operators</a:t>
            </a:r>
          </a:p>
          <a:p>
            <a:pPr>
              <a:buNone/>
            </a:pPr>
            <a:r>
              <a:rPr lang="en-US" dirty="0"/>
              <a:t>An </a:t>
            </a:r>
            <a:r>
              <a:rPr lang="en-US" b="1" dirty="0"/>
              <a:t>operator is a symbol that performs an operation on one or more operands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result = 10 + 20;</a:t>
            </a:r>
          </a:p>
          <a:p>
            <a:pPr>
              <a:buNone/>
            </a:pPr>
            <a:r>
              <a:rPr lang="en-US" dirty="0"/>
              <a:t>Here: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10 and 20 → operands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+         → operator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B01E2B-33D4-BDF0-BEDD-80A930835CEA}"/>
              </a:ext>
            </a:extLst>
          </p:cNvPr>
          <p:cNvSpPr txBox="1"/>
          <p:nvPr/>
        </p:nvSpPr>
        <p:spPr>
          <a:xfrm>
            <a:off x="452284" y="2648666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Types of Operators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Operators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│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Arithmetic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Unary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Relational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Logical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Assignment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Bitwise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├── Shift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2294F63-A006-9A9F-1849-B3E35AC5C74F}"/>
              </a:ext>
            </a:extLst>
          </p:cNvPr>
          <p:cNvSpPr txBox="1"/>
          <p:nvPr/>
        </p:nvSpPr>
        <p:spPr>
          <a:xfrm>
            <a:off x="3500284" y="1494504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Arithmetic Operators</a:t>
            </a:r>
          </a:p>
          <a:p>
            <a:pPr>
              <a:buNone/>
            </a:pPr>
            <a:r>
              <a:rPr lang="en-US" dirty="0"/>
              <a:t>Used for mathematical calculations.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+   Addition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-   Subtraction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*   Multiplication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/   Division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%   Modulus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163F7D-46D3-6B96-AAB3-72F3741883AB}"/>
              </a:ext>
            </a:extLst>
          </p:cNvPr>
          <p:cNvSpPr txBox="1"/>
          <p:nvPr/>
        </p:nvSpPr>
        <p:spPr>
          <a:xfrm>
            <a:off x="3244645" y="3387329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2. Unary Operators</a:t>
            </a:r>
          </a:p>
          <a:p>
            <a:pPr>
              <a:buNone/>
            </a:pPr>
            <a:r>
              <a:rPr lang="en-US" dirty="0"/>
              <a:t>Unary operators work on </a:t>
            </a:r>
            <a:r>
              <a:rPr lang="en-US" b="1" dirty="0"/>
              <a:t>one operand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Important ones: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+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-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++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--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!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~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E9532A-1B9F-6617-3035-133692B5B8F3}"/>
              </a:ext>
            </a:extLst>
          </p:cNvPr>
          <p:cNvSpPr txBox="1"/>
          <p:nvPr/>
        </p:nvSpPr>
        <p:spPr>
          <a:xfrm>
            <a:off x="7207046" y="149450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3. Relational Operators</a:t>
            </a:r>
          </a:p>
          <a:p>
            <a:pPr>
              <a:buNone/>
            </a:pPr>
            <a:r>
              <a:rPr lang="en-US" dirty="0"/>
              <a:t>Used to compare values.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&gt; 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&lt;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&gt;=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&lt;=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==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!=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239DE9-06C2-AF35-C860-97A787D4F8DF}"/>
              </a:ext>
            </a:extLst>
          </p:cNvPr>
          <p:cNvSpPr txBox="1"/>
          <p:nvPr/>
        </p:nvSpPr>
        <p:spPr>
          <a:xfrm>
            <a:off x="6096000" y="4218326"/>
            <a:ext cx="66515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4. Logical Operators</a:t>
            </a:r>
          </a:p>
          <a:p>
            <a:pPr>
              <a:buNone/>
            </a:pPr>
            <a:r>
              <a:rPr lang="en-US" dirty="0"/>
              <a:t>Used to combine conditions.</a:t>
            </a:r>
          </a:p>
          <a:p>
            <a:pPr>
              <a:buNone/>
            </a:pPr>
            <a:r>
              <a:rPr lang="en-US" b="1" dirty="0"/>
              <a:t>AND </a:t>
            </a:r>
            <a:r>
              <a:rPr lang="en-US" b="1" dirty="0">
                <a:latin typeface="+mn-lt"/>
              </a:rPr>
              <a:t>&amp;&amp;</a:t>
            </a:r>
            <a:endParaRPr lang="en-US" b="1" dirty="0"/>
          </a:p>
          <a:p>
            <a:pPr>
              <a:buNone/>
            </a:pPr>
            <a:r>
              <a:rPr lang="en-US" dirty="0"/>
              <a:t>Both conditions must be true.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age &gt;= 18 &amp;&amp; age &lt;= 60</a:t>
            </a:r>
          </a:p>
          <a:p>
            <a:pPr>
              <a:buNone/>
            </a:pPr>
            <a:r>
              <a:rPr lang="en-US" b="1" dirty="0"/>
              <a:t>OR </a:t>
            </a:r>
            <a:r>
              <a:rPr lang="en-US" b="1" dirty="0">
                <a:latin typeface="+mn-lt"/>
              </a:rPr>
              <a:t>||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027A2-6300-D0A7-6A5E-3D0CF64BFCCF}"/>
              </a:ext>
            </a:extLst>
          </p:cNvPr>
          <p:cNvSpPr txBox="1"/>
          <p:nvPr/>
        </p:nvSpPr>
        <p:spPr>
          <a:xfrm>
            <a:off x="3244645" y="5934670"/>
            <a:ext cx="66515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NOT </a:t>
            </a:r>
            <a:r>
              <a:rPr lang="en-US" b="1" dirty="0">
                <a:latin typeface="+mn-lt"/>
              </a:rPr>
              <a:t>!</a:t>
            </a:r>
            <a:endParaRPr lang="en-US" b="1" dirty="0"/>
          </a:p>
          <a:p>
            <a:pPr>
              <a:buNone/>
            </a:pPr>
            <a:r>
              <a:rPr lang="en-US" dirty="0"/>
              <a:t>Reverses the result.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!true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418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57DA43-907E-093E-1720-7B94D5131794}"/>
              </a:ext>
            </a:extLst>
          </p:cNvPr>
          <p:cNvSpPr txBox="1"/>
          <p:nvPr/>
        </p:nvSpPr>
        <p:spPr>
          <a:xfrm>
            <a:off x="452284" y="222354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5. Assignment Operators</a:t>
            </a:r>
          </a:p>
          <a:p>
            <a:pPr>
              <a:buNone/>
            </a:pPr>
            <a:r>
              <a:rPr lang="en-US" dirty="0"/>
              <a:t>Used to assign values.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+=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-=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*=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/=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%=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40FB2E-E482-EBFA-CF8E-D84703279877}"/>
              </a:ext>
            </a:extLst>
          </p:cNvPr>
          <p:cNvSpPr txBox="1"/>
          <p:nvPr/>
        </p:nvSpPr>
        <p:spPr>
          <a:xfrm>
            <a:off x="452284" y="2434612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6. Bitwise Operators</a:t>
            </a:r>
          </a:p>
          <a:p>
            <a:r>
              <a:rPr lang="en-US" dirty="0"/>
              <a:t>Work at the </a:t>
            </a:r>
            <a:r>
              <a:rPr lang="en-US" b="1" dirty="0"/>
              <a:t>bit level</a:t>
            </a:r>
            <a:r>
              <a:rPr lang="en-US" dirty="0"/>
              <a:t>.</a:t>
            </a:r>
          </a:p>
          <a:p>
            <a:r>
              <a:rPr lang="en-US" dirty="0"/>
              <a:t>&amp;</a:t>
            </a:r>
          </a:p>
          <a:p>
            <a:r>
              <a:rPr lang="en-US" dirty="0"/>
              <a:t>|</a:t>
            </a:r>
          </a:p>
          <a:p>
            <a:r>
              <a:rPr lang="en-US" dirty="0"/>
              <a:t>^</a:t>
            </a:r>
          </a:p>
          <a:p>
            <a:r>
              <a:rPr lang="en-US" dirty="0"/>
              <a:t>~</a:t>
            </a:r>
          </a:p>
          <a:p>
            <a:r>
              <a:rPr lang="en-US" dirty="0"/>
              <a:t>Example:</a:t>
            </a:r>
          </a:p>
          <a:p>
            <a:r>
              <a:rPr lang="en-US" dirty="0"/>
              <a:t>int a = 5;</a:t>
            </a:r>
          </a:p>
          <a:p>
            <a:r>
              <a:rPr lang="en-US" dirty="0"/>
              <a:t>int b = 3;</a:t>
            </a:r>
          </a:p>
          <a:p>
            <a:endParaRPr lang="en-US" dirty="0"/>
          </a:p>
          <a:p>
            <a:r>
              <a:rPr lang="en-US" dirty="0" err="1"/>
              <a:t>System.out.println</a:t>
            </a:r>
            <a:r>
              <a:rPr lang="en-US" dirty="0"/>
              <a:t>(a &amp; b);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B6359D-52A8-3E86-A757-87D63AE4CD04}"/>
              </a:ext>
            </a:extLst>
          </p:cNvPr>
          <p:cNvSpPr txBox="1"/>
          <p:nvPr/>
        </p:nvSpPr>
        <p:spPr>
          <a:xfrm>
            <a:off x="3500284" y="604965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7. Shift Operators</a:t>
            </a:r>
          </a:p>
          <a:p>
            <a:pPr>
              <a:buNone/>
            </a:pPr>
            <a:r>
              <a:rPr lang="en-US" dirty="0"/>
              <a:t>Used to shift bits.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&lt;&lt;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&gt;&gt;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&gt;&gt;&gt;</a:t>
            </a:r>
          </a:p>
          <a:p>
            <a:pPr>
              <a:buNone/>
            </a:pPr>
            <a:r>
              <a:rPr lang="en-US" dirty="0"/>
              <a:t>Example: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int a = 8;</a:t>
            </a:r>
          </a:p>
          <a:p>
            <a:pPr rtl="0">
              <a:buNone/>
            </a:pPr>
            <a:endParaRPr lang="en-US" dirty="0">
              <a:latin typeface="+mn-lt"/>
            </a:endParaRPr>
          </a:p>
          <a:p>
            <a:pPr rtl="0">
              <a:buNone/>
            </a:pPr>
            <a:r>
              <a:rPr lang="en-US" dirty="0" err="1">
                <a:latin typeface="+mn-lt"/>
              </a:rPr>
              <a:t>System.out.println</a:t>
            </a:r>
            <a:r>
              <a:rPr lang="en-US" dirty="0">
                <a:latin typeface="+mn-lt"/>
              </a:rPr>
              <a:t>(a &lt;&lt; 1);</a:t>
            </a:r>
            <a:endParaRPr lang="en-US" dirty="0">
              <a:latin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912EAD-D4AC-631A-52F4-24D02DD8DC8E}"/>
              </a:ext>
            </a:extLst>
          </p:cNvPr>
          <p:cNvSpPr txBox="1"/>
          <p:nvPr/>
        </p:nvSpPr>
        <p:spPr>
          <a:xfrm>
            <a:off x="3824749" y="340410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8. Ternary Operator</a:t>
            </a:r>
          </a:p>
          <a:p>
            <a:pPr>
              <a:buNone/>
            </a:pPr>
            <a:r>
              <a:rPr lang="en-US" dirty="0"/>
              <a:t>The ternary operator is a short form of </a:t>
            </a:r>
            <a:r>
              <a:rPr lang="en-US" dirty="0">
                <a:latin typeface="+mn-lt"/>
              </a:rPr>
              <a:t>if-else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Syntax:</a:t>
            </a:r>
          </a:p>
          <a:p>
            <a:pPr rtl="0">
              <a:buNone/>
            </a:pPr>
            <a:r>
              <a:rPr lang="en-US" dirty="0">
                <a:latin typeface="+mn-lt"/>
              </a:rPr>
              <a:t>condition ? value1 : value2;</a:t>
            </a:r>
            <a:endParaRPr lang="en-US" dirty="0"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501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744</Words>
  <Application>Microsoft Office PowerPoint</Application>
  <PresentationFormat>Widescreen</PresentationFormat>
  <Paragraphs>214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Rajveer gangwar</dc:creator>
  <cp:lastModifiedBy>Rajveer gangwar</cp:lastModifiedBy>
  <cp:revision>1</cp:revision>
  <dcterms:created xsi:type="dcterms:W3CDTF">2026-09-27T18:53:12Z</dcterms:created>
  <dcterms:modified xsi:type="dcterms:W3CDTF">2026-09-27T18:53:20Z</dcterms:modified>
</cp:coreProperties>
</file>